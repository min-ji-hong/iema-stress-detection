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3" r:id="rId2"/>
    <p:sldId id="283" r:id="rId3"/>
    <p:sldId id="28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4AF93-1F60-4EC2-B946-B7D196910D0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BDEBA-C0F7-4862-8DBE-26DC5637A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194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acc01f05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3bacc01f05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g3bacc01f050_0_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>
                <a:latin typeface="Abadi" panose="020B0604020104020204" pitchFamily="34" charset="0"/>
              </a:rPr>
              <a:t>1</a:t>
            </a:fld>
            <a:endParaRPr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bad870010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4" name="Google Shape;564;g3ebad870010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ko-KR" altLang="ko-KR" dirty="0"/>
          </a:p>
        </p:txBody>
      </p:sp>
      <p:sp>
        <p:nvSpPr>
          <p:cNvPr id="565" name="Google Shape;565;g3ebad870010_0_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>
                <a:latin typeface="Abadi" panose="020B0604020104020204" pitchFamily="34" charset="0"/>
              </a:rPr>
              <a:t>2</a:t>
            </a:fld>
            <a:endParaRPr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>
          <a:extLst>
            <a:ext uri="{FF2B5EF4-FFF2-40B4-BE49-F238E27FC236}">
              <a16:creationId xmlns:a16="http://schemas.microsoft.com/office/drawing/2014/main" id="{AFA2837C-6E31-8A78-8390-74B993648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bad870010_0_104:notes">
            <a:extLst>
              <a:ext uri="{FF2B5EF4-FFF2-40B4-BE49-F238E27FC236}">
                <a16:creationId xmlns:a16="http://schemas.microsoft.com/office/drawing/2014/main" id="{926C7A2B-C24F-46FC-DED4-64CE62FF83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4" name="Google Shape;564;g3ebad870010_0_104:notes">
            <a:extLst>
              <a:ext uri="{FF2B5EF4-FFF2-40B4-BE49-F238E27FC236}">
                <a16:creationId xmlns:a16="http://schemas.microsoft.com/office/drawing/2014/main" id="{E6EC0B1C-F2D6-EC86-613C-DEBB23B0EE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ko-KR" altLang="ko-KR" dirty="0"/>
          </a:p>
        </p:txBody>
      </p:sp>
      <p:sp>
        <p:nvSpPr>
          <p:cNvPr id="565" name="Google Shape;565;g3ebad870010_0_104:notes">
            <a:extLst>
              <a:ext uri="{FF2B5EF4-FFF2-40B4-BE49-F238E27FC236}">
                <a16:creationId xmlns:a16="http://schemas.microsoft.com/office/drawing/2014/main" id="{BD47A70A-A337-8660-F79A-3C7BFBC828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>
                <a:latin typeface="Abadi" panose="020B0604020104020204" pitchFamily="34" charset="0"/>
              </a:rPr>
              <a:t>3</a:t>
            </a:fld>
            <a:endParaRPr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6615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ACD9A0-E01B-37A4-55E9-F88B7D29B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33BCC0-5D4A-012B-14C0-D192FC522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C90316-6ABD-006D-AB80-21B8A1A70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0B46-944D-49C5-8FB2-12FBF720033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82932-043C-7761-162D-03EB591E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D69636-5E80-DE9E-56CF-53F46CD3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4329-4C1C-4D89-BE89-98E694100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70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CC390-C6C7-A012-A042-2212C6758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40679A-D639-C91F-E267-5CE5A95E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3C35F1-FEAC-432A-AA4B-B05DD4EC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0B46-944D-49C5-8FB2-12FBF720033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2330B5-9A94-792C-DE5C-D1D254FF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6470B2-F7ED-3771-5B11-D7F9CE74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4329-4C1C-4D89-BE89-98E694100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55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913DE-872F-F342-ED8A-FFA014C48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53BCE8-45C9-15DD-EF3B-1637AB7D0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28DB4-6B4F-659B-4736-BF57FC991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0B46-944D-49C5-8FB2-12FBF720033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FF1739-A4CE-2D8B-4203-7E699249E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B90437-33BC-6DC1-4CF6-473FEC8A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4329-4C1C-4D89-BE89-98E694100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65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22BB7-3053-930A-B82B-C8824D5C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D5A23E-0B21-387E-E1C0-4BBA3DF03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5B6B72-D52C-D2D2-5ADA-C4876A9F4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07F0CF-3FFE-0A7E-B856-EFA97213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0B46-944D-49C5-8FB2-12FBF720033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4739B2-36F1-C8F3-D97A-4922DEA2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85A58A-B93A-2696-6CE1-332D159C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4329-4C1C-4D89-BE89-98E694100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42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B3D05-61F6-1DA0-5C5F-B1A5FDF8B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21A267-2D63-E947-0E0B-7390872B7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4878A2-2730-7941-2113-CA0AA0360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351A2E-D8AB-758A-2264-3C45FC5AC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8D111A-4865-76EF-7B52-0A2505F92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5C12BEE-C256-61D7-C9FD-580A3B86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0B46-944D-49C5-8FB2-12FBF720033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9D4A08-6FF5-70E9-A7AD-3DFF0B2B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05C7FCB-72EB-1A26-92C2-FB1C3DFEA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4329-4C1C-4D89-BE89-98E694100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66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A1F45D-37F4-4E85-78B2-D35234DC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4C6D37-A18F-FF14-CD0C-BCB1FEA68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0B46-944D-49C5-8FB2-12FBF720033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CF129A-7FEA-3D2E-81B6-30695384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6FBBB4-605D-4294-CF73-8C5CB7B08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4329-4C1C-4D89-BE89-98E694100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94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A71E9E-52C2-1222-9486-414668D3F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0B46-944D-49C5-8FB2-12FBF720033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2690DCB-9087-C4CD-A5AA-BC424268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7542E4-CCAD-470B-49BE-B666F40C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4329-4C1C-4D89-BE89-98E694100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86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0FA55-E648-B784-D934-878DBEE2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383875-5543-D469-88D4-02C1688D2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0114B5-A981-CE0F-FF59-061217AD3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81BA4A-E60D-A571-1F12-2D5701DB5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0B46-944D-49C5-8FB2-12FBF720033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1BAE2B-6740-1EA0-223C-DC6E26E47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799DA7-53C3-FE8B-74AA-F6328980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4329-4C1C-4D89-BE89-98E694100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34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25BAA9-4A2B-7B82-A6E2-1D6271052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7742C2-4414-9085-D4DD-FA758D469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C6E3A7-40B2-9E22-9F2D-081E832BE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38E0CE-FF72-7376-9B1D-2EC7BEBE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0B46-944D-49C5-8FB2-12FBF720033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C02927-F70C-7417-E117-491BF4ACC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EFAE10-4A7A-CBB2-58EC-F5AFFC2A4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4329-4C1C-4D89-BE89-98E694100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630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9BF67-13D7-9E57-2FF2-3425E800E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956A09-B296-4A51-711F-9B21877E3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C5439-A674-D228-5816-4561D33F7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0B46-944D-49C5-8FB2-12FBF720033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2F224A-3C93-8143-1C85-E20264C9B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F7BCB2-06B1-95E9-B880-751B07714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4329-4C1C-4D89-BE89-98E694100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77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8F1529-AADD-6122-9F31-6D9F0F691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F778A7-776D-92A6-B7B1-9D2B029DD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F154BC-3488-F03C-3D7C-CFDCE3D71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0B46-944D-49C5-8FB2-12FBF720033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EE6195-A32B-C30B-F4F4-EF755DCA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F75F0A-F598-1538-91BB-54F7C2ACA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E4329-4C1C-4D89-BE89-98E694100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884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B27EEBE-D345-DBE1-6ADF-2D22A4395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2EDB94-EE36-E181-9466-85E48600E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F3474B-B316-5E4F-6F70-8EE7F7F5A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90B46-944D-49C5-8FB2-12FBF720033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F2D49-06FC-D586-DB81-166E5F6B0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2BA208-521C-3AD9-7CD6-25CA40E38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E4329-4C1C-4D89-BE89-98E694100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431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/>
          <p:nvPr/>
        </p:nvSpPr>
        <p:spPr>
          <a:xfrm rot="10800000" flipH="1">
            <a:off x="0" y="6812400"/>
            <a:ext cx="12192000" cy="45600"/>
          </a:xfrm>
          <a:prstGeom prst="rect">
            <a:avLst/>
          </a:prstGeom>
          <a:gradFill>
            <a:gsLst>
              <a:gs pos="0">
                <a:srgbClr val="B3C6E7"/>
              </a:gs>
              <a:gs pos="9000">
                <a:srgbClr val="4C78C6"/>
              </a:gs>
              <a:gs pos="35000">
                <a:srgbClr val="446DB5"/>
              </a:gs>
              <a:gs pos="60000">
                <a:srgbClr val="3A5FA0"/>
              </a:gs>
              <a:gs pos="91000">
                <a:srgbClr val="254378"/>
              </a:gs>
              <a:gs pos="100000">
                <a:srgbClr val="254378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202579" y="176592"/>
            <a:ext cx="648000" cy="771600"/>
          </a:xfrm>
          <a:prstGeom prst="rect">
            <a:avLst/>
          </a:prstGeom>
          <a:gradFill>
            <a:gsLst>
              <a:gs pos="0">
                <a:srgbClr val="3864B2"/>
              </a:gs>
              <a:gs pos="23000">
                <a:srgbClr val="3864B2"/>
              </a:gs>
              <a:gs pos="69000">
                <a:srgbClr val="2F5496"/>
              </a:gs>
              <a:gs pos="97000">
                <a:srgbClr val="2C4E8C"/>
              </a:gs>
              <a:gs pos="100000">
                <a:srgbClr val="2C4E8C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algn="ctr"/>
            <a:r>
              <a:rPr lang="en-US" altLang="ko" sz="3600" dirty="0">
                <a:solidFill>
                  <a:schemeClr val="lt1"/>
                </a:solidFill>
                <a:latin typeface="Abadi" panose="020B0604020104020204" pitchFamily="34" charset="0"/>
                <a:sym typeface="Arial"/>
              </a:rPr>
              <a:t>01</a:t>
            </a:r>
            <a:endParaRPr sz="1467" dirty="0">
              <a:latin typeface="Abadi" panose="020B0604020104020204" pitchFamily="34" charset="0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202579" y="958747"/>
            <a:ext cx="11786800" cy="45600"/>
          </a:xfrm>
          <a:prstGeom prst="rect">
            <a:avLst/>
          </a:prstGeom>
          <a:gradFill>
            <a:gsLst>
              <a:gs pos="0">
                <a:srgbClr val="3864B2"/>
              </a:gs>
              <a:gs pos="23000">
                <a:srgbClr val="3864B2"/>
              </a:gs>
              <a:gs pos="69000">
                <a:srgbClr val="2F5496"/>
              </a:gs>
              <a:gs pos="97000">
                <a:srgbClr val="2C4E8C"/>
              </a:gs>
              <a:gs pos="100000">
                <a:srgbClr val="2C4E8C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6151" y="38726"/>
            <a:ext cx="870700" cy="8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1002877" y="330625"/>
            <a:ext cx="7935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t>IM Level Definition (GMM)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00000" y="1050000"/>
            <a:ext cx="112000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◈ Defining an independent IM section — merge vs. split threshold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Data: Hong Daehwa, 7-day wrist HR (7/13–7/19), ~306K samples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Pipeline: M_phys (RF) → residual → 300s/150s window → 3-state GMM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Result: 85 IM bursts → 84 inter-burst gaps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Gap stats: mean 114.8 min / median 25.0 min / std 226.0 (right-skewed)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00000" y="2800000"/>
            <a:ext cx="1120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Threshold method comparison (log-gap, n=84):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0B5A8A"/>
                </a:solidFill>
              </a:rPr>
              <a:t>GMM (2-comp): 26.4 min — BIC 305.89 (best fit) → Adopted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KDE: unimodal density, no valley → not usable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IQR: 234.4 min — ~9× GMM, over-conservative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Paper's 300s / 5-min rule (Sec. 3.6.3) = sensor non-wear session split, NOT an IM-merge criterion</a:t>
            </a:r>
          </a:p>
        </p:txBody>
      </p:sp>
      <p:graphicFrame>
        <p:nvGraphicFramePr>
          <p:cNvPr id="201" name="Table 200"/>
          <p:cNvGraphicFramePr>
            <a:graphicFrameLocks noGrp="1"/>
          </p:cNvGraphicFramePr>
          <p:nvPr/>
        </p:nvGraphicFramePr>
        <p:xfrm>
          <a:off x="1200000" y="4450000"/>
          <a:ext cx="9800000" cy="18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0000"/>
                <a:gridCol w="2450000"/>
                <a:gridCol w="2450000"/>
                <a:gridCol w="2450000"/>
              </a:tblGrid>
              <a:tr h="462500">
                <a:tc>
                  <a:txBody>
                    <a:bodyPr/>
                    <a:lstStyle/>
                    <a:p>
                      <a:r>
                        <a:rPr b="1" sz="130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Statistical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300"/>
                        <a:t>Verdict</a:t>
                      </a:r>
                    </a:p>
                  </a:txBody>
                  <a:tcPr/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200"/>
                        <a:t>GMM (log-gap, 2-comp.)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26.4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BIC = 305.89 (lowest)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Adopted</a:t>
                      </a:r>
                    </a:p>
                  </a:txBody>
                  <a:tcPr/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200"/>
                        <a:t>KDE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Unimodal density - no valley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Not usable</a:t>
                      </a:r>
                    </a:p>
                  </a:txBody>
                  <a:tcPr/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200"/>
                        <a:t>IQR (Q3+1.5xIQR)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234.4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Outlier rule (not mixture-aware)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Over-conservative (~9x GMM)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2"/>
          <p:cNvSpPr/>
          <p:nvPr/>
        </p:nvSpPr>
        <p:spPr>
          <a:xfrm rot="10800000" flipH="1">
            <a:off x="0" y="6812400"/>
            <a:ext cx="12192000" cy="45600"/>
          </a:xfrm>
          <a:prstGeom prst="rect">
            <a:avLst/>
          </a:prstGeom>
          <a:gradFill>
            <a:gsLst>
              <a:gs pos="0">
                <a:srgbClr val="B3C6E7"/>
              </a:gs>
              <a:gs pos="9000">
                <a:srgbClr val="4C78C6"/>
              </a:gs>
              <a:gs pos="35000">
                <a:srgbClr val="446DB5"/>
              </a:gs>
              <a:gs pos="60000">
                <a:srgbClr val="3A5FA0"/>
              </a:gs>
              <a:gs pos="91000">
                <a:srgbClr val="254378"/>
              </a:gs>
              <a:gs pos="100000">
                <a:srgbClr val="254378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1" name="Google Shape;571;p42"/>
          <p:cNvSpPr/>
          <p:nvPr/>
        </p:nvSpPr>
        <p:spPr>
          <a:xfrm>
            <a:off x="202579" y="176592"/>
            <a:ext cx="648000" cy="771600"/>
          </a:xfrm>
          <a:prstGeom prst="rect">
            <a:avLst/>
          </a:prstGeom>
          <a:gradFill>
            <a:gsLst>
              <a:gs pos="0">
                <a:srgbClr val="3864B2"/>
              </a:gs>
              <a:gs pos="23000">
                <a:srgbClr val="3864B2"/>
              </a:gs>
              <a:gs pos="69000">
                <a:srgbClr val="2F5496"/>
              </a:gs>
              <a:gs pos="97000">
                <a:srgbClr val="2C4E8C"/>
              </a:gs>
              <a:gs pos="100000">
                <a:srgbClr val="2C4E8C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algn="ctr"/>
            <a:r>
              <a:rPr lang="en-US" altLang="ko" sz="3600" dirty="0">
                <a:solidFill>
                  <a:schemeClr val="lt1"/>
                </a:solidFill>
                <a:latin typeface="Abadi" panose="020B0604020104020204" pitchFamily="34" charset="0"/>
                <a:sym typeface="Arial"/>
              </a:rPr>
              <a:t>02</a:t>
            </a:r>
            <a:endParaRPr sz="1467" dirty="0">
              <a:latin typeface="Abadi" panose="020B0604020104020204" pitchFamily="34" charset="0"/>
            </a:endParaRPr>
          </a:p>
        </p:txBody>
      </p:sp>
      <p:sp>
        <p:nvSpPr>
          <p:cNvPr id="572" name="Google Shape;572;p42"/>
          <p:cNvSpPr/>
          <p:nvPr/>
        </p:nvSpPr>
        <p:spPr>
          <a:xfrm>
            <a:off x="202579" y="958747"/>
            <a:ext cx="11786800" cy="45600"/>
          </a:xfrm>
          <a:prstGeom prst="rect">
            <a:avLst/>
          </a:prstGeom>
          <a:gradFill>
            <a:gsLst>
              <a:gs pos="0">
                <a:srgbClr val="3864B2"/>
              </a:gs>
              <a:gs pos="23000">
                <a:srgbClr val="3864B2"/>
              </a:gs>
              <a:gs pos="69000">
                <a:srgbClr val="2F5496"/>
              </a:gs>
              <a:gs pos="97000">
                <a:srgbClr val="2C4E8C"/>
              </a:gs>
              <a:gs pos="100000">
                <a:srgbClr val="2C4E8C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3" name="Google Shape;573;p42"/>
          <p:cNvSpPr txBox="1"/>
          <p:nvPr/>
        </p:nvSpPr>
        <p:spPr>
          <a:xfrm>
            <a:off x="1002855" y="330625"/>
            <a:ext cx="300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altLang="ko" sz="3200" dirty="0">
                <a:latin typeface="Abadi" panose="020B0604020104020204" pitchFamily="34" charset="0"/>
              </a:rPr>
              <a:t>P-values</a:t>
            </a:r>
            <a:endParaRPr sz="1467" dirty="0">
              <a:latin typeface="Abadi" panose="020B0604020104020204" pitchFamily="34" charset="0"/>
            </a:endParaRPr>
          </a:p>
        </p:txBody>
      </p:sp>
      <p:pic>
        <p:nvPicPr>
          <p:cNvPr id="574" name="Google Shape;57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6151" y="38726"/>
            <a:ext cx="870700" cy="8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TextBox 574"/>
          <p:cNvSpPr txBox="1"/>
          <p:nvPr/>
        </p:nvSpPr>
        <p:spPr>
          <a:xfrm>
            <a:off x="500000" y="1050000"/>
            <a:ext cx="112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◈ Feature significance across Stable / Ambiguous / IM (one-way ANOVA)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</a:rPr>
              <a:t>Method: 300s window mean/variability → aligned to GMM IM level → ANOVA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</a:rPr>
              <a:t>All 6 features significant at p &lt; .005</a:t>
            </a:r>
          </a:p>
        </p:txBody>
      </p:sp>
      <p:graphicFrame>
        <p:nvGraphicFramePr>
          <p:cNvPr id="576" name="Table 575"/>
          <p:cNvGraphicFramePr>
            <a:graphicFrameLocks noGrp="1"/>
          </p:cNvGraphicFramePr>
          <p:nvPr/>
        </p:nvGraphicFramePr>
        <p:xfrm>
          <a:off x="500000" y="2100000"/>
          <a:ext cx="11200000" cy="24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000"/>
                <a:gridCol w="2240000"/>
                <a:gridCol w="2240000"/>
                <a:gridCol w="2240000"/>
                <a:gridCol w="2240000"/>
              </a:tblGrid>
              <a:tr h="350000">
                <a:tc>
                  <a:txBody>
                    <a:bodyPr/>
                    <a:lstStyle/>
                    <a:p>
                      <a:r>
                        <a:rPr b="1" sz="120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Ambiguous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p</a:t>
                      </a:r>
                    </a:p>
                  </a:txBody>
                  <a:tcPr/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050"/>
                        <a:t>HR (Watch)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Gradual 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Sharp deviation (3x)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&lt; .005</a:t>
                      </a:r>
                    </a:p>
                  </a:txBody>
                  <a:tcPr/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050"/>
                        <a:t>EDA mean (Watch)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Baseline conductance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Similar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Slight 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&lt; .005</a:t>
                      </a:r>
                    </a:p>
                  </a:txBody>
                  <a:tcPr/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050"/>
                        <a:t>Gyroscope variability (Watch)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Near-static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Increasing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Sharp increase (2x)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&lt; .005</a:t>
                      </a:r>
                    </a:p>
                  </a:txBody>
                  <a:tcPr/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050"/>
                        <a:t>EDA variability (Watch)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Near-static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Rising (7x)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Sharp rise (22x)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&lt; .005</a:t>
                      </a:r>
                    </a:p>
                  </a:txBody>
                  <a:tcPr/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050"/>
                        <a:t>Geomagnetic variability (Phone)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Rising (7x)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Large shift (26x)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&lt; .005</a:t>
                      </a:r>
                    </a:p>
                  </a:txBody>
                  <a:tcPr/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050"/>
                        <a:t>Skin temperature (Watch)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Mild 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Marked decrease (vasoconstriction)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/>
                        <a:t>&lt; .005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77" name="TextBox 576"/>
          <p:cNvSpPr txBox="1"/>
          <p:nvPr/>
        </p:nvSpPr>
        <p:spPr>
          <a:xfrm>
            <a:off x="500000" y="4650000"/>
            <a:ext cx="11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0B5A8A"/>
                </a:solidFill>
              </a:rPr>
              <a:t>EDA variability ↑22× — strongest sympathetic-arousal marker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Skin temp ↓ — only decreasing feature (vasoconstriction)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Gyro / geomagnetic ↑ — possible movement confound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Next: add motion + EDA + skin-temp to M_phys as covariates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22222"/>
                </a:solidFill>
              </a:rPr>
              <a:t>Accelerometer (3.3GB) unavailable → EDA used instead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>
          <a:extLst>
            <a:ext uri="{FF2B5EF4-FFF2-40B4-BE49-F238E27FC236}">
              <a16:creationId xmlns:a16="http://schemas.microsoft.com/office/drawing/2014/main" id="{87A9CBA7-74D7-6BBF-1B95-0060AFE40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2">
            <a:extLst>
              <a:ext uri="{FF2B5EF4-FFF2-40B4-BE49-F238E27FC236}">
                <a16:creationId xmlns:a16="http://schemas.microsoft.com/office/drawing/2014/main" id="{9AF139B8-AA68-345D-ED19-1F858B193A3A}"/>
              </a:ext>
            </a:extLst>
          </p:cNvPr>
          <p:cNvSpPr/>
          <p:nvPr/>
        </p:nvSpPr>
        <p:spPr>
          <a:xfrm rot="10800000" flipH="1">
            <a:off x="0" y="6812400"/>
            <a:ext cx="12192000" cy="45600"/>
          </a:xfrm>
          <a:prstGeom prst="rect">
            <a:avLst/>
          </a:prstGeom>
          <a:gradFill>
            <a:gsLst>
              <a:gs pos="0">
                <a:srgbClr val="B3C6E7"/>
              </a:gs>
              <a:gs pos="9000">
                <a:srgbClr val="4C78C6"/>
              </a:gs>
              <a:gs pos="35000">
                <a:srgbClr val="446DB5"/>
              </a:gs>
              <a:gs pos="60000">
                <a:srgbClr val="3A5FA0"/>
              </a:gs>
              <a:gs pos="91000">
                <a:srgbClr val="254378"/>
              </a:gs>
              <a:gs pos="100000">
                <a:srgbClr val="254378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1" name="Google Shape;571;p42">
            <a:extLst>
              <a:ext uri="{FF2B5EF4-FFF2-40B4-BE49-F238E27FC236}">
                <a16:creationId xmlns:a16="http://schemas.microsoft.com/office/drawing/2014/main" id="{C73DEDE0-D154-FCA2-AC26-2552380955F2}"/>
              </a:ext>
            </a:extLst>
          </p:cNvPr>
          <p:cNvSpPr/>
          <p:nvPr/>
        </p:nvSpPr>
        <p:spPr>
          <a:xfrm>
            <a:off x="202579" y="176592"/>
            <a:ext cx="648000" cy="771600"/>
          </a:xfrm>
          <a:prstGeom prst="rect">
            <a:avLst/>
          </a:prstGeom>
          <a:gradFill>
            <a:gsLst>
              <a:gs pos="0">
                <a:srgbClr val="3864B2"/>
              </a:gs>
              <a:gs pos="23000">
                <a:srgbClr val="3864B2"/>
              </a:gs>
              <a:gs pos="69000">
                <a:srgbClr val="2F5496"/>
              </a:gs>
              <a:gs pos="97000">
                <a:srgbClr val="2C4E8C"/>
              </a:gs>
              <a:gs pos="100000">
                <a:srgbClr val="2C4E8C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36000" tIns="45700" rIns="36000" bIns="45700" anchor="ctr" anchorCtr="0">
            <a:noAutofit/>
          </a:bodyPr>
          <a:lstStyle/>
          <a:p>
            <a:pPr algn="ctr"/>
            <a:r>
              <a:rPr lang="en-US" altLang="ko" sz="3600" dirty="0">
                <a:solidFill>
                  <a:schemeClr val="lt1"/>
                </a:solidFill>
                <a:latin typeface="Abadi" panose="020B0604020104020204" pitchFamily="34" charset="0"/>
                <a:sym typeface="Arial"/>
              </a:rPr>
              <a:t>03</a:t>
            </a:r>
            <a:endParaRPr sz="1467" dirty="0">
              <a:latin typeface="Abadi" panose="020B0604020104020204" pitchFamily="34" charset="0"/>
            </a:endParaRPr>
          </a:p>
        </p:txBody>
      </p:sp>
      <p:sp>
        <p:nvSpPr>
          <p:cNvPr id="572" name="Google Shape;572;p42">
            <a:extLst>
              <a:ext uri="{FF2B5EF4-FFF2-40B4-BE49-F238E27FC236}">
                <a16:creationId xmlns:a16="http://schemas.microsoft.com/office/drawing/2014/main" id="{AD86B380-82E3-4FDF-CC1F-9A732C0909F3}"/>
              </a:ext>
            </a:extLst>
          </p:cNvPr>
          <p:cNvSpPr/>
          <p:nvPr/>
        </p:nvSpPr>
        <p:spPr>
          <a:xfrm>
            <a:off x="202579" y="958747"/>
            <a:ext cx="11786800" cy="45600"/>
          </a:xfrm>
          <a:prstGeom prst="rect">
            <a:avLst/>
          </a:prstGeom>
          <a:gradFill>
            <a:gsLst>
              <a:gs pos="0">
                <a:srgbClr val="3864B2"/>
              </a:gs>
              <a:gs pos="23000">
                <a:srgbClr val="3864B2"/>
              </a:gs>
              <a:gs pos="69000">
                <a:srgbClr val="2F5496"/>
              </a:gs>
              <a:gs pos="97000">
                <a:srgbClr val="2C4E8C"/>
              </a:gs>
              <a:gs pos="100000">
                <a:srgbClr val="2C4E8C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3" name="Google Shape;573;p42">
            <a:extLst>
              <a:ext uri="{FF2B5EF4-FFF2-40B4-BE49-F238E27FC236}">
                <a16:creationId xmlns:a16="http://schemas.microsoft.com/office/drawing/2014/main" id="{3996D934-4997-A727-C05D-5B8C0D51EB0C}"/>
              </a:ext>
            </a:extLst>
          </p:cNvPr>
          <p:cNvSpPr txBox="1"/>
          <p:nvPr/>
        </p:nvSpPr>
        <p:spPr>
          <a:xfrm>
            <a:off x="1002855" y="330625"/>
            <a:ext cx="300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3200" dirty="0">
                <a:latin typeface="Abadi" panose="020B0604020104020204" pitchFamily="34" charset="0"/>
              </a:rPr>
              <a:t>TSST</a:t>
            </a:r>
            <a:r>
              <a:rPr lang="ko-KR" altLang="en-US" sz="3200" dirty="0">
                <a:latin typeface="Abadi" panose="020B0604020104020204" pitchFamily="34" charset="0"/>
              </a:rPr>
              <a:t> </a:t>
            </a:r>
            <a:r>
              <a:rPr lang="en-US" altLang="ko-KR" sz="3200" dirty="0">
                <a:latin typeface="Abadi" panose="020B0604020104020204" pitchFamily="34" charset="0"/>
              </a:rPr>
              <a:t>&amp;</a:t>
            </a:r>
            <a:r>
              <a:rPr lang="ko-KR" altLang="en-US" sz="3200" dirty="0">
                <a:latin typeface="Abadi" panose="020B0604020104020204" pitchFamily="34" charset="0"/>
              </a:rPr>
              <a:t> </a:t>
            </a:r>
            <a:r>
              <a:rPr lang="en-US" altLang="ko-KR" sz="3200" dirty="0">
                <a:latin typeface="Abadi" panose="020B0604020104020204" pitchFamily="34" charset="0"/>
              </a:rPr>
              <a:t>CPT</a:t>
            </a:r>
            <a:endParaRPr sz="1467" dirty="0">
              <a:latin typeface="Abadi" panose="020B0604020104020204" pitchFamily="34" charset="0"/>
            </a:endParaRPr>
          </a:p>
        </p:txBody>
      </p:sp>
      <p:pic>
        <p:nvPicPr>
          <p:cNvPr id="574" name="Google Shape;574;p42">
            <a:extLst>
              <a:ext uri="{FF2B5EF4-FFF2-40B4-BE49-F238E27FC236}">
                <a16:creationId xmlns:a16="http://schemas.microsoft.com/office/drawing/2014/main" id="{F6B728FD-DED8-3E2F-B59D-1DA92AC3013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6151" y="38726"/>
            <a:ext cx="870700" cy="8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99;p22">
            <a:extLst>
              <a:ext uri="{FF2B5EF4-FFF2-40B4-BE49-F238E27FC236}">
                <a16:creationId xmlns:a16="http://schemas.microsoft.com/office/drawing/2014/main" id="{F648AEE5-B8BB-4BFA-00E1-194E93E23E19}"/>
              </a:ext>
            </a:extLst>
          </p:cNvPr>
          <p:cNvSpPr txBox="1"/>
          <p:nvPr/>
        </p:nvSpPr>
        <p:spPr>
          <a:xfrm>
            <a:off x="49700" y="1023101"/>
            <a:ext cx="1193967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1400"/>
            </a:pPr>
            <a:r>
              <a:rPr sz="1400"/>
              <a:t>◈ Lab stress-induction protocol — 2 participants, Hanyang YK Intercollege, 7/23</a:t>
            </a:r>
            <a:endParaRPr sz="1600" dirty="0">
              <a:solidFill>
                <a:srgbClr val="0D0D0D"/>
              </a:solidFill>
              <a:highlight>
                <a:srgbClr val="D9EAD3"/>
              </a:highlight>
              <a:latin typeface="Abadi" panose="020B0604020104020204" pitchFamily="34" charset="0"/>
            </a:endParaRPr>
          </a:p>
        </p:txBody>
      </p:sp>
      <p:sp>
        <p:nvSpPr>
          <p:cNvPr id="575" name="TextBox 574"/>
          <p:cNvSpPr txBox="1"/>
          <p:nvPr/>
        </p:nvSpPr>
        <p:spPr>
          <a:xfrm>
            <a:off x="500000" y="1750000"/>
            <a:ext cx="11200000" cy="4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Protocol: TSST (Public Speaking + Mental Arithmetic) + Cold Pressor Test (CPT) + Rest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Bomi Kim (18, iOS): Speech 13:37–13:41 · Math 13:57–14:01 · CPT 14:11–14:15 · Rest 14:15–14:45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>
                <a:solidFill>
                  <a:srgbClr val="222222"/>
                </a:solidFill>
              </a:rPr>
              <a:t>Nahyun Kim (19, iOS): Speech 13:32–13:36 · Math 13:52–13:56 · CPT 14:06–14:10 · Rest 14:15–14:45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0B5A8A"/>
                </a:solidFill>
              </a:rPr>
              <a:t>M_phys (baseline HR model) on lab data: Test R² = 0.83 (Nahyun) / 0.97 (Bomi)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0B5A8A"/>
                </a:solidFill>
              </a:rPr>
              <a:t>AIES-style uncertainty sampling: 24% of data → 99% of full AUC-ROC (0.889 vs. 0.898)</a:t>
            </a:r>
          </a:p>
        </p:txBody>
      </p:sp>
    </p:spTree>
    <p:extLst>
      <p:ext uri="{BB962C8B-B14F-4D97-AF65-F5344CB8AC3E}">
        <p14:creationId xmlns:p14="http://schemas.microsoft.com/office/powerpoint/2010/main" val="99280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224</Words>
  <Application>Microsoft Office PowerPoint</Application>
  <PresentationFormat>와이드스크린</PresentationFormat>
  <Paragraphs>71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Google Sans Text</vt:lpstr>
      <vt:lpstr>Malgun Gothic</vt:lpstr>
      <vt:lpstr>Malgun Gothic</vt:lpstr>
      <vt:lpstr>Abadi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지홍 민</dc:creator>
  <cp:lastModifiedBy>지홍 민</cp:lastModifiedBy>
  <cp:revision>20</cp:revision>
  <dcterms:created xsi:type="dcterms:W3CDTF">2026-07-23T01:42:52Z</dcterms:created>
  <dcterms:modified xsi:type="dcterms:W3CDTF">2026-07-26T21:53:41Z</dcterms:modified>
</cp:coreProperties>
</file>